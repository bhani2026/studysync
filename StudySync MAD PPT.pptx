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embeddedFontLst>
    <p:embeddedFont>
      <p:font typeface="DM Mono Medium" panose="020B0609040201040103" pitchFamily="49" charset="0"/>
      <p:regular r:id="rId14"/>
    </p:embeddedFont>
    <p:embeddedFont>
      <p:font typeface="Familjen Grotesk" panose="020B0604020202020204" charset="0"/>
      <p:regular r:id="rId15"/>
    </p:embeddedFont>
    <p:embeddedFont>
      <p:font typeface="Familjen Grotesk Medium" panose="020B0604020202020204" charset="0"/>
      <p:regular r:id="rId16"/>
    </p:embeddedFont>
    <p:embeddedFont>
      <p:font typeface="Familjen Grotesk SemiBold" panose="020B0604020202020204" charset="0"/>
      <p:regular r:id="rId17"/>
    </p:embeddedFont>
    <p:embeddedFont>
      <p:font typeface="Krona One" panose="020B0604020202020204" charset="0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63960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189" y="508000"/>
            <a:ext cx="1106460" cy="281880"/>
          </a:xfrm>
          <a:prstGeom prst="roundRect">
            <a:avLst>
              <a:gd name="adj" fmla="val 11353"/>
            </a:avLst>
          </a:prstGeom>
          <a:solidFill>
            <a:srgbClr val="D6E6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71486" y="575628"/>
            <a:ext cx="1487450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200" kern="100" spc="48" dirty="0">
                <a:solidFill>
                  <a:srgbClr val="0B1F3A"/>
                </a:solidFill>
                <a:latin typeface="DM Mono Medium" pitchFamily="34" charset="0"/>
                <a:ea typeface="DM Mono Medium" pitchFamily="34" charset="-122"/>
                <a:cs typeface="DM Mono Medium" pitchFamily="34" charset="-120"/>
              </a:rPr>
              <a:t>STUDYSYNC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658896" y="575056"/>
            <a:ext cx="3248737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Familjen Grotesk Medium" pitchFamily="34" charset="0"/>
                <a:ea typeface="Familjen Grotesk Medium" pitchFamily="34" charset="-122"/>
                <a:cs typeface="Familjen Grotesk Medium" pitchFamily="34" charset="-120"/>
              </a:rPr>
              <a:t>Mobile Application Development Project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189" y="2599369"/>
            <a:ext cx="6400640" cy="845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6400" kern="100" spc="-192" dirty="0">
                <a:solidFill>
                  <a:srgbClr val="0D47A1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StudySync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189" y="3578781"/>
            <a:ext cx="6857828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0B1F3A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Student Academic &amp; Assignment Management System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189" y="4070846"/>
            <a:ext cx="6857828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0B1F3A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Presented by Bhani Malhotra and Nikita Sharma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189" y="4514155"/>
            <a:ext cx="685782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3A5278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Java • XML • SQLite</a:t>
            </a:r>
            <a:endParaRPr lang="en-US" sz="12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017" y="0"/>
            <a:ext cx="487667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987" y="508000"/>
            <a:ext cx="423753" cy="281880"/>
          </a:xfrm>
          <a:prstGeom prst="roundRect">
            <a:avLst>
              <a:gd name="adj" fmla="val 11353"/>
            </a:avLst>
          </a:prstGeom>
          <a:solidFill>
            <a:srgbClr val="D6E6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22284" y="575628"/>
            <a:ext cx="804743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200" kern="100" spc="48" dirty="0">
                <a:solidFill>
                  <a:srgbClr val="0B1F3A"/>
                </a:solidFill>
                <a:latin typeface="DM Mono Medium" pitchFamily="34" charset="0"/>
                <a:ea typeface="DM Mono Medium" pitchFamily="34" charset="-122"/>
                <a:cs typeface="DM Mono Medium" pitchFamily="34" charset="-120"/>
              </a:rPr>
              <a:t>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26988" y="575056"/>
            <a:ext cx="1441116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Familjen Grotesk Medium" pitchFamily="34" charset="0"/>
                <a:ea typeface="Familjen Grotesk Medium" pitchFamily="34" charset="-122"/>
                <a:cs typeface="Familjen Grotesk Medium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7987" y="920879"/>
            <a:ext cx="6299042" cy="13165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200" kern="100" spc="-64" dirty="0">
                <a:solidFill>
                  <a:srgbClr val="0D47A1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Students need one place to manage academic life</a:t>
            </a:r>
            <a:endParaRPr lang="en-US" sz="3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87" y="2404864"/>
            <a:ext cx="380990" cy="381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7987" y="2909689"/>
            <a:ext cx="629904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0B1F3A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Deadlines, subjects, attendance, grades, and profile details are often tracked separately.</a:t>
            </a:r>
            <a:endParaRPr lang="en-US" sz="15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987" y="3585964"/>
            <a:ext cx="380990" cy="3810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07987" y="4090789"/>
            <a:ext cx="6299042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0B1F3A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That makes pending work and academic progress harder to monitor.</a:t>
            </a:r>
            <a:endParaRPr lang="en-US" sz="15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987" y="4500364"/>
            <a:ext cx="333367" cy="3810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07987" y="5005189"/>
            <a:ext cx="6299042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0B1F3A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StudySync brings these activities into one centralized Android application.</a:t>
            </a:r>
            <a:endParaRPr lang="en-US" sz="15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017" y="0"/>
            <a:ext cx="487667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987" y="508000"/>
            <a:ext cx="423753" cy="281880"/>
          </a:xfrm>
          <a:prstGeom prst="roundRect">
            <a:avLst>
              <a:gd name="adj" fmla="val 11353"/>
            </a:avLst>
          </a:prstGeom>
          <a:solidFill>
            <a:srgbClr val="D6E6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22284" y="575628"/>
            <a:ext cx="804743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200" kern="100" spc="48" dirty="0">
                <a:solidFill>
                  <a:srgbClr val="0B1F3A"/>
                </a:solidFill>
                <a:latin typeface="DM Mono Medium" pitchFamily="34" charset="0"/>
                <a:ea typeface="DM Mono Medium" pitchFamily="34" charset="-122"/>
                <a:cs typeface="DM Mono Medium" pitchFamily="34" charset="-120"/>
              </a:rPr>
              <a:t>02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26988" y="575056"/>
            <a:ext cx="2043458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Familjen Grotesk Medium" pitchFamily="34" charset="0"/>
                <a:ea typeface="Familjen Grotesk Medium" pitchFamily="34" charset="-122"/>
                <a:cs typeface="Familjen Grotesk Medium" pitchFamily="34" charset="-120"/>
              </a:rPr>
              <a:t>What StudySync does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7987" y="1183524"/>
            <a:ext cx="6116187" cy="13165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200" kern="100" spc="-64" dirty="0">
                <a:solidFill>
                  <a:srgbClr val="0D47A1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StudySync turns scattered tasks into a manageable routine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07986" y="2796750"/>
            <a:ext cx="6116187" cy="153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04800" indent="-304800" algn="l">
              <a:lnSpc>
                <a:spcPct val="117000"/>
              </a:lnSpc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Secure registration and login</a:t>
            </a:r>
            <a:endParaRPr lang="en-US" sz="1500" dirty="0"/>
          </a:p>
          <a:p>
            <a:pPr marL="304800" indent="-304800" algn="l">
              <a:lnSpc>
                <a:spcPct val="117000"/>
              </a:lnSpc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Create, update, view, and delete assignments</a:t>
            </a:r>
            <a:endParaRPr lang="en-US" sz="1500" dirty="0"/>
          </a:p>
          <a:p>
            <a:pPr marL="304800" indent="-304800" algn="l">
              <a:lnSpc>
                <a:spcPct val="117000"/>
              </a:lnSpc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Organize semester-wise subjects</a:t>
            </a:r>
            <a:endParaRPr lang="en-US" sz="1500" dirty="0"/>
          </a:p>
          <a:p>
            <a:pPr marL="304800" indent="-304800" algn="l">
              <a:lnSpc>
                <a:spcPct val="117000"/>
              </a:lnSpc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Track credits, grades, GPA, CGPA, attendance, and marks</a:t>
            </a:r>
            <a:endParaRPr lang="en-US" sz="1500" dirty="0"/>
          </a:p>
          <a:p>
            <a:pPr marL="304800" indent="-304800" algn="l">
              <a:lnSpc>
                <a:spcPct val="117000"/>
              </a:lnSpc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Manage profile and account details</a:t>
            </a:r>
            <a:endParaRPr lang="en-US" sz="15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6855" y="0"/>
            <a:ext cx="475484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987" y="508000"/>
            <a:ext cx="423753" cy="281880"/>
          </a:xfrm>
          <a:prstGeom prst="roundRect">
            <a:avLst>
              <a:gd name="adj" fmla="val 11353"/>
            </a:avLst>
          </a:prstGeom>
          <a:solidFill>
            <a:srgbClr val="D6E6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22284" y="575628"/>
            <a:ext cx="804743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200" kern="100" spc="48" dirty="0">
                <a:solidFill>
                  <a:srgbClr val="0B1F3A"/>
                </a:solidFill>
                <a:latin typeface="DM Mono Medium" pitchFamily="34" charset="0"/>
                <a:ea typeface="DM Mono Medium" pitchFamily="34" charset="-122"/>
                <a:cs typeface="DM Mono Medium" pitchFamily="34" charset="-120"/>
              </a:rPr>
              <a:t>03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26988" y="575056"/>
            <a:ext cx="1422364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Familjen Grotesk Medium" pitchFamily="34" charset="0"/>
                <a:ea typeface="Familjen Grotesk Medium" pitchFamily="34" charset="-122"/>
                <a:cs typeface="Familjen Grotesk Medium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7987" y="920879"/>
            <a:ext cx="11175720" cy="877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200" kern="100" spc="-64" dirty="0">
                <a:solidFill>
                  <a:srgbClr val="0D47A1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Five technologies support a simple local-first architecture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7987" y="1966020"/>
          <a:ext cx="11175720" cy="2698684"/>
        </p:xfrm>
        <a:graphic>
          <a:graphicData uri="http://schemas.openxmlformats.org/drawingml/2006/table">
            <a:tbl>
              <a:tblPr/>
              <a:tblGrid>
                <a:gridCol w="37996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760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083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0D47A1"/>
                          </a:solidFill>
                          <a:latin typeface="Familjen Grotesk" pitchFamily="34" charset="0"/>
                          <a:ea typeface="Familjen Grotesk" pitchFamily="34" charset="-122"/>
                          <a:cs typeface="Familjen Grotesk" pitchFamily="34" charset="-120"/>
                        </a:rPr>
                        <a:t>Technology</a:t>
                      </a:r>
                      <a:endParaRPr lang="en-US" sz="1500" dirty="0">
                        <a:latin typeface="Familjen Grotesk" charset="0"/>
                        <a:ea typeface="Familjen Grotesk" charset="0"/>
                        <a:cs typeface="Familjen Grotesk" charset="0"/>
                      </a:endParaRPr>
                    </a:p>
                  </a:txBody>
                  <a:tcPr marL="142871" marR="142871" marT="88898" marB="88898" anchor="ctr">
                    <a:lnL w="12700" cap="flat" cmpd="sng" algn="ctr">
                      <a:solidFill>
                        <a:srgbClr val="D6E6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6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6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0D47A1"/>
                          </a:solidFill>
                          <a:latin typeface="Familjen Grotesk" pitchFamily="34" charset="0"/>
                          <a:ea typeface="Familjen Grotesk" pitchFamily="34" charset="-122"/>
                          <a:cs typeface="Familjen Grotesk" pitchFamily="34" charset="-120"/>
                        </a:rPr>
                        <a:t>Role</a:t>
                      </a:r>
                      <a:endParaRPr lang="en-US" sz="1500" dirty="0">
                        <a:latin typeface="Familjen Grotesk" charset="0"/>
                        <a:ea typeface="Familjen Grotesk" charset="0"/>
                        <a:cs typeface="Familjen Grotesk" charset="0"/>
                      </a:endParaRPr>
                    </a:p>
                  </a:txBody>
                  <a:tcPr marL="142871" marR="142871" marT="88898" marB="88898" anchor="ctr">
                    <a:lnL w="12700" cap="flat" cmpd="sng" algn="ctr">
                      <a:solidFill>
                        <a:srgbClr val="D6E6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6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6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83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0B1F3A"/>
                          </a:solidFill>
                          <a:latin typeface="Familjen Grotesk" pitchFamily="34" charset="0"/>
                          <a:ea typeface="Familjen Grotesk" pitchFamily="34" charset="-122"/>
                          <a:cs typeface="Familjen Grotesk" pitchFamily="34" charset="-120"/>
                        </a:rPr>
                        <a:t>Android Studio</a:t>
                      </a:r>
                      <a:endParaRPr lang="en-US" sz="1500" dirty="0">
                        <a:latin typeface="Familjen Grotesk" charset="0"/>
                        <a:ea typeface="Familjen Grotesk" charset="0"/>
                        <a:cs typeface="Familjen Grotesk" charset="0"/>
                      </a:endParaRPr>
                    </a:p>
                  </a:txBody>
                  <a:tcPr marL="142871" marR="142871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Familjen Grotesk" pitchFamily="34" charset="0"/>
                          <a:ea typeface="Familjen Grotesk" pitchFamily="34" charset="-122"/>
                          <a:cs typeface="Familjen Grotesk" pitchFamily="34" charset="-120"/>
                        </a:rPr>
                        <a:t>Development and testing environment</a:t>
                      </a:r>
                      <a:endParaRPr lang="en-US" sz="1500" dirty="0">
                        <a:latin typeface="Familjen Grotesk" charset="0"/>
                        <a:ea typeface="Familjen Grotesk" charset="0"/>
                        <a:cs typeface="Familjen Grotesk" charset="0"/>
                      </a:endParaRPr>
                    </a:p>
                  </a:txBody>
                  <a:tcPr marL="142871" marR="142871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83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0B1F3A"/>
                          </a:solidFill>
                          <a:latin typeface="Familjen Grotesk" pitchFamily="34" charset="0"/>
                          <a:ea typeface="Familjen Grotesk" pitchFamily="34" charset="-122"/>
                          <a:cs typeface="Familjen Grotesk" pitchFamily="34" charset="-120"/>
                        </a:rPr>
                        <a:t>Java</a:t>
                      </a:r>
                      <a:endParaRPr lang="en-US" sz="1500" dirty="0">
                        <a:latin typeface="Familjen Grotesk" charset="0"/>
                        <a:ea typeface="Familjen Grotesk" charset="0"/>
                        <a:cs typeface="Familjen Grotesk" charset="0"/>
                      </a:endParaRPr>
                    </a:p>
                  </a:txBody>
                  <a:tcPr marL="142871" marR="142871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Familjen Grotesk" pitchFamily="34" charset="0"/>
                          <a:ea typeface="Familjen Grotesk" pitchFamily="34" charset="-122"/>
                          <a:cs typeface="Familjen Grotesk" pitchFamily="34" charset="-120"/>
                        </a:rPr>
                        <a:t>Application logic, calculations, and validation</a:t>
                      </a:r>
                      <a:endParaRPr lang="en-US" sz="1500" dirty="0">
                        <a:latin typeface="Familjen Grotesk" charset="0"/>
                        <a:ea typeface="Familjen Grotesk" charset="0"/>
                        <a:cs typeface="Familjen Grotesk" charset="0"/>
                      </a:endParaRPr>
                    </a:p>
                  </a:txBody>
                  <a:tcPr marL="142871" marR="142871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083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0B1F3A"/>
                          </a:solidFill>
                          <a:latin typeface="Familjen Grotesk" pitchFamily="34" charset="0"/>
                          <a:ea typeface="Familjen Grotesk" pitchFamily="34" charset="-122"/>
                          <a:cs typeface="Familjen Grotesk" pitchFamily="34" charset="-120"/>
                        </a:rPr>
                        <a:t>XML</a:t>
                      </a:r>
                      <a:endParaRPr lang="en-US" sz="1500" dirty="0">
                        <a:latin typeface="Familjen Grotesk" charset="0"/>
                        <a:ea typeface="Familjen Grotesk" charset="0"/>
                        <a:cs typeface="Familjen Grotesk" charset="0"/>
                      </a:endParaRPr>
                    </a:p>
                  </a:txBody>
                  <a:tcPr marL="142871" marR="142871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Familjen Grotesk" pitchFamily="34" charset="0"/>
                          <a:ea typeface="Familjen Grotesk" pitchFamily="34" charset="-122"/>
                          <a:cs typeface="Familjen Grotesk" pitchFamily="34" charset="-120"/>
                        </a:rPr>
                        <a:t>User interface layouts</a:t>
                      </a:r>
                      <a:endParaRPr lang="en-US" sz="1500" dirty="0">
                        <a:latin typeface="Familjen Grotesk" charset="0"/>
                        <a:ea typeface="Familjen Grotesk" charset="0"/>
                        <a:cs typeface="Familjen Grotesk" charset="0"/>
                      </a:endParaRPr>
                    </a:p>
                  </a:txBody>
                  <a:tcPr marL="142871" marR="142871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083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0B1F3A"/>
                          </a:solidFill>
                          <a:latin typeface="Familjen Grotesk" pitchFamily="34" charset="0"/>
                          <a:ea typeface="Familjen Grotesk" pitchFamily="34" charset="-122"/>
                          <a:cs typeface="Familjen Grotesk" pitchFamily="34" charset="-120"/>
                        </a:rPr>
                        <a:t>SQLite</a:t>
                      </a:r>
                      <a:endParaRPr lang="en-US" sz="1500" dirty="0">
                        <a:latin typeface="Familjen Grotesk" charset="0"/>
                        <a:ea typeface="Familjen Grotesk" charset="0"/>
                        <a:cs typeface="Familjen Grotesk" charset="0"/>
                      </a:endParaRPr>
                    </a:p>
                  </a:txBody>
                  <a:tcPr marL="142871" marR="142871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Familjen Grotesk" pitchFamily="34" charset="0"/>
                          <a:ea typeface="Familjen Grotesk" pitchFamily="34" charset="-122"/>
                          <a:cs typeface="Familjen Grotesk" pitchFamily="34" charset="-120"/>
                        </a:rPr>
                        <a:t>Local storage for users, subjects, assignments, and results</a:t>
                      </a:r>
                      <a:endParaRPr lang="en-US" sz="1500" dirty="0">
                        <a:latin typeface="Familjen Grotesk" charset="0"/>
                        <a:ea typeface="Familjen Grotesk" charset="0"/>
                        <a:cs typeface="Familjen Grotesk" charset="0"/>
                      </a:endParaRPr>
                    </a:p>
                  </a:txBody>
                  <a:tcPr marL="142871" marR="142871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44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0B1F3A"/>
                          </a:solidFill>
                          <a:latin typeface="Familjen Grotesk" pitchFamily="34" charset="0"/>
                          <a:ea typeface="Familjen Grotesk" pitchFamily="34" charset="-122"/>
                          <a:cs typeface="Familjen Grotesk" pitchFamily="34" charset="-120"/>
                        </a:rPr>
                        <a:t>SharedPreferences</a:t>
                      </a:r>
                      <a:endParaRPr lang="en-US" sz="1500" dirty="0">
                        <a:latin typeface="Familjen Grotesk" charset="0"/>
                        <a:ea typeface="Familjen Grotesk" charset="0"/>
                        <a:cs typeface="Familjen Grotesk" charset="0"/>
                      </a:endParaRPr>
                    </a:p>
                  </a:txBody>
                  <a:tcPr marL="142871" marR="142871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Familjen Grotesk" pitchFamily="34" charset="0"/>
                          <a:ea typeface="Familjen Grotesk" pitchFamily="34" charset="-122"/>
                          <a:cs typeface="Familjen Grotesk" pitchFamily="34" charset="-120"/>
                        </a:rPr>
                        <a:t>Login-session management</a:t>
                      </a:r>
                      <a:endParaRPr lang="en-US" sz="1500" dirty="0">
                        <a:latin typeface="Familjen Grotesk" charset="0"/>
                        <a:ea typeface="Familjen Grotesk" charset="0"/>
                        <a:cs typeface="Familjen Grotesk" charset="0"/>
                      </a:endParaRPr>
                    </a:p>
                  </a:txBody>
                  <a:tcPr marL="142871" marR="142871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7987" y="4850904"/>
            <a:ext cx="1168370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3A5278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Workflow: Student → Android UI → Java activities → SQLite database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987" y="508000"/>
            <a:ext cx="423753" cy="281880"/>
          </a:xfrm>
          <a:prstGeom prst="roundRect">
            <a:avLst>
              <a:gd name="adj" fmla="val 11353"/>
            </a:avLst>
          </a:prstGeom>
          <a:solidFill>
            <a:srgbClr val="D6E6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22284" y="575628"/>
            <a:ext cx="804743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200" kern="100" spc="48" dirty="0">
                <a:solidFill>
                  <a:srgbClr val="0B1F3A"/>
                </a:solidFill>
                <a:latin typeface="DM Mono Medium" pitchFamily="34" charset="0"/>
                <a:ea typeface="DM Mono Medium" pitchFamily="34" charset="-122"/>
                <a:cs typeface="DM Mono Medium" pitchFamily="34" charset="-120"/>
              </a:rPr>
              <a:t>04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26988" y="575056"/>
            <a:ext cx="2095448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Familjen Grotesk Medium" pitchFamily="34" charset="0"/>
                <a:ea typeface="Familjen Grotesk Medium" pitchFamily="34" charset="-122"/>
                <a:cs typeface="Familjen Grotesk Medium" pitchFamily="34" charset="-120"/>
              </a:rPr>
              <a:t>Access and navigation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7987" y="920879"/>
            <a:ext cx="6299042" cy="13165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200" kern="100" spc="-64" dirty="0">
                <a:solidFill>
                  <a:srgbClr val="0D47A1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Login opens a personalized academic dashboard</a:t>
            </a:r>
            <a:endParaRPr lang="en-US" sz="3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87" y="2404864"/>
            <a:ext cx="476238" cy="4762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7987" y="3066681"/>
            <a:ext cx="2920927" cy="224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00" dirty="0">
                <a:solidFill>
                  <a:srgbClr val="0D47A1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Register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07987" y="3436045"/>
            <a:ext cx="2920927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0B1F3A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Students create an account.</a:t>
            </a:r>
            <a:endParaRPr lang="en-US" sz="15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6103" y="2404864"/>
            <a:ext cx="476238" cy="4762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886103" y="3066681"/>
            <a:ext cx="2920927" cy="224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00" dirty="0">
                <a:solidFill>
                  <a:srgbClr val="0D47A1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Log in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3886103" y="3436045"/>
            <a:ext cx="2920927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0B1F3A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Email and password are checked against stored account information.</a:t>
            </a:r>
            <a:endParaRPr lang="en-US" sz="15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987" y="4417120"/>
            <a:ext cx="476238" cy="4762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07987" y="5078936"/>
            <a:ext cx="2920927" cy="224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00" dirty="0">
                <a:solidFill>
                  <a:srgbClr val="0D47A1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Dashboard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507987" y="5448300"/>
            <a:ext cx="2920927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0B1F3A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The student receives a personalized academic view.</a:t>
            </a:r>
            <a:endParaRPr lang="en-US" sz="15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86103" y="4417120"/>
            <a:ext cx="476238" cy="47625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886103" y="5078936"/>
            <a:ext cx="2920927" cy="224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00" dirty="0">
                <a:solidFill>
                  <a:srgbClr val="0D47A1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Choose a module</a:t>
            </a:r>
            <a:endParaRPr lang="en-US" sz="1500" dirty="0"/>
          </a:p>
        </p:txBody>
      </p:sp>
      <p:sp>
        <p:nvSpPr>
          <p:cNvPr id="17" name="Text 11"/>
          <p:cNvSpPr/>
          <p:nvPr/>
        </p:nvSpPr>
        <p:spPr>
          <a:xfrm>
            <a:off x="3886103" y="5448300"/>
            <a:ext cx="2920927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0B1F3A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Assignments, Subjects, Academic Information, and Profile.</a:t>
            </a:r>
            <a:endParaRPr lang="en-US" sz="15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017" y="0"/>
            <a:ext cx="487667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987" y="508000"/>
            <a:ext cx="423753" cy="281880"/>
          </a:xfrm>
          <a:prstGeom prst="roundRect">
            <a:avLst>
              <a:gd name="adj" fmla="val 11353"/>
            </a:avLst>
          </a:prstGeom>
          <a:solidFill>
            <a:srgbClr val="D6E6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22284" y="575628"/>
            <a:ext cx="804743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200" kern="100" spc="48" dirty="0">
                <a:solidFill>
                  <a:srgbClr val="0B1F3A"/>
                </a:solidFill>
                <a:latin typeface="DM Mono Medium" pitchFamily="34" charset="0"/>
                <a:ea typeface="DM Mono Medium" pitchFamily="34" charset="-122"/>
                <a:cs typeface="DM Mono Medium" pitchFamily="34" charset="-120"/>
              </a:rPr>
              <a:t>05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26988" y="575056"/>
            <a:ext cx="1457289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Familjen Grotesk Medium" pitchFamily="34" charset="0"/>
                <a:ea typeface="Familjen Grotesk Medium" pitchFamily="34" charset="-122"/>
                <a:cs typeface="Familjen Grotesk Medium" pitchFamily="34" charset="-120"/>
              </a:rPr>
              <a:t>Assignments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7987" y="1000254"/>
            <a:ext cx="6299042" cy="13165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200" kern="100" spc="-64" dirty="0">
                <a:solidFill>
                  <a:srgbClr val="0D47A1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Assignment management makes deadlines visible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07987" y="2484239"/>
            <a:ext cx="3073323" cy="1669852"/>
          </a:xfrm>
          <a:prstGeom prst="roundRect">
            <a:avLst>
              <a:gd name="adj" fmla="val 4791"/>
            </a:avLst>
          </a:prstGeom>
          <a:solidFill>
            <a:srgbClr val="D6E6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36582" y="2718935"/>
            <a:ext cx="2616135" cy="269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Create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6582" y="3134916"/>
            <a:ext cx="261613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Create assignments with a title, subject, due date, and time.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733707" y="2484239"/>
            <a:ext cx="3073323" cy="1669852"/>
          </a:xfrm>
          <a:prstGeom prst="roundRect">
            <a:avLst>
              <a:gd name="adj" fmla="val 4791"/>
            </a:avLst>
          </a:prstGeom>
          <a:solidFill>
            <a:srgbClr val="D6E6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3962301" y="2718935"/>
            <a:ext cx="2616135" cy="269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Prioritize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962301" y="3134916"/>
            <a:ext cx="261613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Set low, medium, or high priority and mark work complete.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07987" y="4306491"/>
            <a:ext cx="3073323" cy="1669852"/>
          </a:xfrm>
          <a:prstGeom prst="roundRect">
            <a:avLst>
              <a:gd name="adj" fmla="val 4791"/>
            </a:avLst>
          </a:prstGeom>
          <a:solidFill>
            <a:srgbClr val="D6E6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736582" y="4541187"/>
            <a:ext cx="2616135" cy="269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Track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6582" y="4957167"/>
            <a:ext cx="261613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Saved assignments appear as readable cards with deadlines and status.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733707" y="4306491"/>
            <a:ext cx="3073323" cy="1669852"/>
          </a:xfrm>
          <a:prstGeom prst="roundRect">
            <a:avLst>
              <a:gd name="adj" fmla="val 4791"/>
            </a:avLst>
          </a:prstGeom>
          <a:solidFill>
            <a:srgbClr val="1565C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3962301" y="4541187"/>
            <a:ext cx="2616135" cy="269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Maintain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962301" y="4957167"/>
            <a:ext cx="261613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Existing assignments can be edited or deleted.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07987" y="6162477"/>
            <a:ext cx="680703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3A5278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Visual focus: assignment creation form beside priority-based tracking.</a:t>
            </a:r>
            <a:endParaRPr lang="en-US" sz="125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017" y="0"/>
            <a:ext cx="4876678" cy="687645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987" y="508000"/>
            <a:ext cx="423753" cy="281880"/>
          </a:xfrm>
          <a:prstGeom prst="roundRect">
            <a:avLst>
              <a:gd name="adj" fmla="val 11353"/>
            </a:avLst>
          </a:prstGeom>
          <a:solidFill>
            <a:srgbClr val="D6E6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22284" y="575628"/>
            <a:ext cx="804743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200" kern="100" spc="48" dirty="0">
                <a:solidFill>
                  <a:srgbClr val="0B1F3A"/>
                </a:solidFill>
                <a:latin typeface="DM Mono Medium" pitchFamily="34" charset="0"/>
                <a:ea typeface="DM Mono Medium" pitchFamily="34" charset="-122"/>
                <a:cs typeface="DM Mono Medium" pitchFamily="34" charset="-120"/>
              </a:rPr>
              <a:t>06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26988" y="575056"/>
            <a:ext cx="1178590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Familjen Grotesk Medium" pitchFamily="34" charset="0"/>
                <a:ea typeface="Familjen Grotesk Medium" pitchFamily="34" charset="-122"/>
                <a:cs typeface="Familjen Grotesk Medium" pitchFamily="34" charset="-120"/>
              </a:rPr>
              <a:t>Subjects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7987" y="920879"/>
            <a:ext cx="6299042" cy="13165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200" kern="100" spc="-64" dirty="0">
                <a:solidFill>
                  <a:srgbClr val="0D47A1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Subject management keeps semester information organized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7987" y="2404864"/>
          <a:ext cx="6324343" cy="2597085"/>
        </p:xfrm>
        <a:graphic>
          <a:graphicData uri="http://schemas.openxmlformats.org/drawingml/2006/table">
            <a:tbl>
              <a:tblPr/>
              <a:tblGrid>
                <a:gridCol w="14740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11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80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11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083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0D47A1"/>
                          </a:solidFill>
                          <a:latin typeface="Familjen Grotesk" pitchFamily="34" charset="0"/>
                          <a:ea typeface="Familjen Grotesk" pitchFamily="34" charset="-122"/>
                          <a:cs typeface="Familjen Grotesk" pitchFamily="34" charset="-120"/>
                        </a:rPr>
                        <a:t>Record</a:t>
                      </a:r>
                      <a:endParaRPr lang="en-US" sz="1500" dirty="0">
                        <a:latin typeface="Familjen Grotesk" charset="0"/>
                        <a:ea typeface="Familjen Grotesk" charset="0"/>
                        <a:cs typeface="Familjen Grotesk" charset="0"/>
                      </a:endParaRPr>
                    </a:p>
                  </a:txBody>
                  <a:tcPr marL="142871" marR="142871" marT="88898" marB="88898" anchor="ctr">
                    <a:lnL w="12700" cap="flat" cmpd="sng" algn="ctr">
                      <a:solidFill>
                        <a:srgbClr val="D6E6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6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6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0D47A1"/>
                          </a:solidFill>
                          <a:latin typeface="Familjen Grotesk" pitchFamily="34" charset="0"/>
                          <a:ea typeface="Familjen Grotesk" pitchFamily="34" charset="-122"/>
                          <a:cs typeface="Familjen Grotesk" pitchFamily="34" charset="-120"/>
                        </a:rPr>
                        <a:t>What it stores</a:t>
                      </a:r>
                      <a:endParaRPr lang="en-US" sz="1500" dirty="0">
                        <a:latin typeface="Familjen Grotesk" charset="0"/>
                        <a:ea typeface="Familjen Grotesk" charset="0"/>
                        <a:cs typeface="Familjen Grotesk" charset="0"/>
                      </a:endParaRPr>
                    </a:p>
                  </a:txBody>
                  <a:tcPr marL="142871" marR="142871" marT="88898" marB="88898" anchor="ctr">
                    <a:lnL w="12700" cap="flat" cmpd="sng" algn="ctr">
                      <a:solidFill>
                        <a:srgbClr val="D6E6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6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6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0D47A1"/>
                          </a:solidFill>
                          <a:latin typeface="Familjen Grotesk" pitchFamily="34" charset="0"/>
                          <a:ea typeface="Familjen Grotesk" pitchFamily="34" charset="-122"/>
                          <a:cs typeface="Familjen Grotesk" pitchFamily="34" charset="-120"/>
                        </a:rPr>
                        <a:t>How it is used</a:t>
                      </a:r>
                      <a:endParaRPr lang="en-US" sz="1500" dirty="0">
                        <a:latin typeface="Familjen Grotesk" charset="0"/>
                        <a:ea typeface="Familjen Grotesk" charset="0"/>
                        <a:cs typeface="Familjen Grotesk" charset="0"/>
                      </a:endParaRPr>
                    </a:p>
                  </a:txBody>
                  <a:tcPr marL="142871" marR="142871" marT="88898" marB="88898" anchor="ctr">
                    <a:lnL w="12700" cap="flat" cmpd="sng" algn="ctr">
                      <a:solidFill>
                        <a:srgbClr val="D6E6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6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6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Familjen Grotesk" charset="0"/>
                        <a:ea typeface="Familjen Grotesk" charset="0"/>
                        <a:cs typeface="Familjen Grotesk" charset="0"/>
                      </a:endParaRPr>
                    </a:p>
                  </a:txBody>
                  <a:tcPr marL="142871" marR="142871" marT="88898" marB="88898" anchor="ctr">
                    <a:lnL w="12700" cap="flat" cmpd="sng" algn="ctr">
                      <a:solidFill>
                        <a:srgbClr val="D6E6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6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6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75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0B1F3A"/>
                          </a:solidFill>
                          <a:latin typeface="Familjen Grotesk" pitchFamily="34" charset="0"/>
                          <a:ea typeface="Familjen Grotesk" pitchFamily="34" charset="-122"/>
                          <a:cs typeface="Familjen Grotesk" pitchFamily="34" charset="-120"/>
                        </a:rPr>
                        <a:t>Subject</a:t>
                      </a:r>
                      <a:endParaRPr lang="en-US" sz="1500" dirty="0">
                        <a:latin typeface="Familjen Grotesk" charset="0"/>
                        <a:ea typeface="Familjen Grotesk" charset="0"/>
                        <a:cs typeface="Familjen Grotesk" charset="0"/>
                      </a:endParaRPr>
                    </a:p>
                  </a:txBody>
                  <a:tcPr marL="142871" marR="142871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Familjen Grotesk" pitchFamily="34" charset="0"/>
                          <a:ea typeface="Familjen Grotesk" pitchFamily="34" charset="-122"/>
                          <a:cs typeface="Familjen Grotesk" pitchFamily="34" charset="-120"/>
                        </a:rPr>
                        <a:t>Subject names and faculty details</a:t>
                      </a:r>
                      <a:endParaRPr lang="en-US" sz="1500" dirty="0">
                        <a:latin typeface="Familjen Grotesk" charset="0"/>
                        <a:ea typeface="Familjen Grotesk" charset="0"/>
                        <a:cs typeface="Familjen Grotesk" charset="0"/>
                      </a:endParaRPr>
                    </a:p>
                  </a:txBody>
                  <a:tcPr marL="142871" marR="142871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Familjen Grotesk" pitchFamily="34" charset="0"/>
                          <a:ea typeface="Familjen Grotesk" pitchFamily="34" charset="-122"/>
                          <a:cs typeface="Familjen Grotesk" pitchFamily="34" charset="-120"/>
                        </a:rPr>
                        <a:t>Maintained in SQLite</a:t>
                      </a:r>
                      <a:endParaRPr lang="en-US" sz="1500" dirty="0">
                        <a:latin typeface="Familjen Grotesk" charset="0"/>
                        <a:ea typeface="Familjen Grotesk" charset="0"/>
                        <a:cs typeface="Familjen Grotesk" charset="0"/>
                      </a:endParaRPr>
                    </a:p>
                  </a:txBody>
                  <a:tcPr marL="142871" marR="142871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Familjen Grotesk" charset="0"/>
                        <a:ea typeface="Familjen Grotesk" charset="0"/>
                        <a:cs typeface="Familjen Grotesk" charset="0"/>
                      </a:endParaRPr>
                    </a:p>
                  </a:txBody>
                  <a:tcPr marL="142871" marR="142871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75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0B1F3A"/>
                          </a:solidFill>
                          <a:latin typeface="Familjen Grotesk" pitchFamily="34" charset="0"/>
                          <a:ea typeface="Familjen Grotesk" pitchFamily="34" charset="-122"/>
                          <a:cs typeface="Familjen Grotesk" pitchFamily="34" charset="-120"/>
                        </a:rPr>
                        <a:t>Semester</a:t>
                      </a:r>
                      <a:endParaRPr lang="en-US" sz="1500" dirty="0">
                        <a:latin typeface="Familjen Grotesk" charset="0"/>
                        <a:ea typeface="Familjen Grotesk" charset="0"/>
                        <a:cs typeface="Familjen Grotesk" charset="0"/>
                      </a:endParaRPr>
                    </a:p>
                  </a:txBody>
                  <a:tcPr marL="142871" marR="142871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Familjen Grotesk" pitchFamily="34" charset="0"/>
                          <a:ea typeface="Familjen Grotesk" pitchFamily="34" charset="-122"/>
                          <a:cs typeface="Familjen Grotesk" pitchFamily="34" charset="-120"/>
                        </a:rPr>
                        <a:t>Semester numbers</a:t>
                      </a:r>
                      <a:endParaRPr lang="en-US" sz="1500" dirty="0">
                        <a:latin typeface="Familjen Grotesk" charset="0"/>
                        <a:ea typeface="Familjen Grotesk" charset="0"/>
                        <a:cs typeface="Familjen Grotesk" charset="0"/>
                      </a:endParaRPr>
                    </a:p>
                  </a:txBody>
                  <a:tcPr marL="142871" marR="142871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Familjen Grotesk" pitchFamily="34" charset="0"/>
                          <a:ea typeface="Familjen Grotesk" pitchFamily="34" charset="-122"/>
                          <a:cs typeface="Familjen Grotesk" pitchFamily="34" charset="-120"/>
                        </a:rPr>
                        <a:t>Configured for Semester 1–5</a:t>
                      </a:r>
                      <a:endParaRPr lang="en-US" sz="1500" dirty="0">
                        <a:latin typeface="Familjen Grotesk" charset="0"/>
                        <a:ea typeface="Familjen Grotesk" charset="0"/>
                        <a:cs typeface="Familjen Grotesk" charset="0"/>
                      </a:endParaRPr>
                    </a:p>
                  </a:txBody>
                  <a:tcPr marL="142871" marR="142871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Familjen Grotesk" charset="0"/>
                        <a:ea typeface="Familjen Grotesk" charset="0"/>
                        <a:cs typeface="Familjen Grotesk" charset="0"/>
                      </a:endParaRPr>
                    </a:p>
                  </a:txBody>
                  <a:tcPr marL="142871" marR="142871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118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0B1F3A"/>
                          </a:solidFill>
                          <a:latin typeface="Familjen Grotesk" pitchFamily="34" charset="0"/>
                          <a:ea typeface="Familjen Grotesk" pitchFamily="34" charset="-122"/>
                          <a:cs typeface="Familjen Grotesk" pitchFamily="34" charset="-120"/>
                        </a:rPr>
                        <a:t>Academic entry</a:t>
                      </a:r>
                      <a:endParaRPr lang="en-US" sz="1500" dirty="0">
                        <a:latin typeface="Familjen Grotesk" charset="0"/>
                        <a:ea typeface="Familjen Grotesk" charset="0"/>
                        <a:cs typeface="Familjen Grotesk" charset="0"/>
                      </a:endParaRPr>
                    </a:p>
                  </a:txBody>
                  <a:tcPr marL="142871" marR="142871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Familjen Grotesk" pitchFamily="34" charset="0"/>
                          <a:ea typeface="Familjen Grotesk" pitchFamily="34" charset="-122"/>
                          <a:cs typeface="Familjen Grotesk" pitchFamily="34" charset="-120"/>
                        </a:rPr>
                        <a:t>Selected subject record</a:t>
                      </a:r>
                      <a:endParaRPr lang="en-US" sz="1500" dirty="0">
                        <a:latin typeface="Familjen Grotesk" charset="0"/>
                        <a:ea typeface="Familjen Grotesk" charset="0"/>
                        <a:cs typeface="Familjen Grotesk" charset="0"/>
                      </a:endParaRPr>
                    </a:p>
                  </a:txBody>
                  <a:tcPr marL="142871" marR="142871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Familjen Grotesk" pitchFamily="34" charset="0"/>
                          <a:ea typeface="Familjen Grotesk" pitchFamily="34" charset="-122"/>
                          <a:cs typeface="Familjen Grotesk" pitchFamily="34" charset="-120"/>
                        </a:rPr>
                        <a:t>Source for academic-information entry</a:t>
                      </a:r>
                      <a:endParaRPr lang="en-US" sz="1500" dirty="0">
                        <a:latin typeface="Familjen Grotesk" charset="0"/>
                        <a:ea typeface="Familjen Grotesk" charset="0"/>
                        <a:cs typeface="Familjen Grotesk" charset="0"/>
                      </a:endParaRPr>
                    </a:p>
                  </a:txBody>
                  <a:tcPr marL="142871" marR="142871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Familjen Grotesk" charset="0"/>
                        <a:ea typeface="Familjen Grotesk" charset="0"/>
                        <a:cs typeface="Familjen Grotesk" charset="0"/>
                      </a:endParaRPr>
                    </a:p>
                  </a:txBody>
                  <a:tcPr marL="142871" marR="142871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7987" y="5188148"/>
            <a:ext cx="680703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3A5278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Add, edit, or delete subject records as semester information changes.</a:t>
            </a:r>
            <a:endParaRPr lang="en-US" sz="12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017" y="0"/>
            <a:ext cx="487667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987" y="508000"/>
            <a:ext cx="423753" cy="281880"/>
          </a:xfrm>
          <a:prstGeom prst="roundRect">
            <a:avLst>
              <a:gd name="adj" fmla="val 11353"/>
            </a:avLst>
          </a:prstGeom>
          <a:solidFill>
            <a:srgbClr val="D6E6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22284" y="575628"/>
            <a:ext cx="804743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200" kern="100" spc="48" dirty="0">
                <a:solidFill>
                  <a:srgbClr val="0B1F3A"/>
                </a:solidFill>
                <a:latin typeface="DM Mono Medium" pitchFamily="34" charset="0"/>
                <a:ea typeface="DM Mono Medium" pitchFamily="34" charset="-122"/>
                <a:cs typeface="DM Mono Medium" pitchFamily="34" charset="-120"/>
              </a:rPr>
              <a:t>07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26988" y="575056"/>
            <a:ext cx="2071338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Familjen Grotesk Medium" pitchFamily="34" charset="0"/>
                <a:ea typeface="Familjen Grotesk Medium" pitchFamily="34" charset="-122"/>
                <a:cs typeface="Familjen Grotesk Medium" pitchFamily="34" charset="-120"/>
              </a:rPr>
              <a:t>Academic information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7987" y="920879"/>
            <a:ext cx="6299042" cy="13165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200" kern="100" spc="-64" dirty="0">
                <a:solidFill>
                  <a:srgbClr val="0D47A1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Credit-weighted results make GPA and CGPA easy to follow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07987" y="2414389"/>
            <a:ext cx="680703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0B1F3A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Select a semester and subject, then enter credits and grade points.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7987" y="2849364"/>
            <a:ext cx="3073323" cy="2427486"/>
          </a:xfrm>
          <a:prstGeom prst="roundRect">
            <a:avLst>
              <a:gd name="adj" fmla="val 3296"/>
            </a:avLst>
          </a:prstGeom>
          <a:solidFill>
            <a:srgbClr val="D6E6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736582" y="3142734"/>
            <a:ext cx="2616135" cy="713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5400" kern="100" spc="-162" dirty="0">
                <a:solidFill>
                  <a:srgbClr val="000000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7.64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736582" y="3898844"/>
            <a:ext cx="2616135" cy="269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GPA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36582" y="4352925"/>
            <a:ext cx="1307968" cy="12601"/>
          </a:xfrm>
          <a:prstGeom prst="roundRect">
            <a:avLst>
              <a:gd name="adj" fmla="val 49998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736582" y="4524375"/>
            <a:ext cx="261613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Semester result using credit-weighted grade points.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733707" y="2849364"/>
            <a:ext cx="3073323" cy="2427486"/>
          </a:xfrm>
          <a:prstGeom prst="roundRect">
            <a:avLst>
              <a:gd name="adj" fmla="val 3296"/>
            </a:avLst>
          </a:prstGeom>
          <a:solidFill>
            <a:srgbClr val="1565C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3962301" y="3142734"/>
            <a:ext cx="2616135" cy="713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5400" kern="100" spc="-162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7.64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3962301" y="3898844"/>
            <a:ext cx="2616135" cy="269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CGPA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962301" y="4352925"/>
            <a:ext cx="1307968" cy="12601"/>
          </a:xfrm>
          <a:prstGeom prst="roundRect">
            <a:avLst>
              <a:gd name="adj" fmla="val 4999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3962301" y="4524375"/>
            <a:ext cx="261613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Overall weighted result across recorded semesters.</a:t>
            </a:r>
            <a:endParaRPr lang="en-US" sz="150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87" y="5454650"/>
            <a:ext cx="6299042" cy="612676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07987" y="6155035"/>
            <a:ext cx="680703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3A5278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Provisional results update as grades are added.</a:t>
            </a:r>
            <a:endParaRPr lang="en-US" sz="125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017" y="0"/>
            <a:ext cx="4876678" cy="686901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987" y="508000"/>
            <a:ext cx="423753" cy="281880"/>
          </a:xfrm>
          <a:prstGeom prst="roundRect">
            <a:avLst>
              <a:gd name="adj" fmla="val 11353"/>
            </a:avLst>
          </a:prstGeom>
          <a:solidFill>
            <a:srgbClr val="D6E6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22284" y="575628"/>
            <a:ext cx="804743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200" kern="100" spc="48" dirty="0">
                <a:solidFill>
                  <a:srgbClr val="0B1F3A"/>
                </a:solidFill>
                <a:latin typeface="DM Mono Medium" pitchFamily="34" charset="0"/>
                <a:ea typeface="DM Mono Medium" pitchFamily="34" charset="-122"/>
                <a:cs typeface="DM Mono Medium" pitchFamily="34" charset="-120"/>
              </a:rPr>
              <a:t>08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26988" y="575056"/>
            <a:ext cx="1543706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Familjen Grotesk Medium" pitchFamily="34" charset="0"/>
                <a:ea typeface="Familjen Grotesk Medium" pitchFamily="34" charset="-122"/>
                <a:cs typeface="Familjen Grotesk Medium" pitchFamily="34" charset="-120"/>
              </a:rPr>
              <a:t>Academic risk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7987" y="920879"/>
            <a:ext cx="6299042" cy="13165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200" kern="100" spc="-64" dirty="0">
                <a:solidFill>
                  <a:srgbClr val="0D47A1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Attendance and marks expose academic risk early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07987" y="2404864"/>
            <a:ext cx="3073323" cy="2427486"/>
          </a:xfrm>
          <a:prstGeom prst="roundRect">
            <a:avLst>
              <a:gd name="adj" fmla="val 3296"/>
            </a:avLst>
          </a:prstGeom>
          <a:solidFill>
            <a:srgbClr val="D6E6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36582" y="2698234"/>
            <a:ext cx="2616135" cy="713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5400" kern="100" spc="-162" dirty="0">
                <a:solidFill>
                  <a:srgbClr val="000000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75%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736582" y="3454344"/>
            <a:ext cx="2616135" cy="269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Attendance example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6582" y="3908425"/>
            <a:ext cx="1307968" cy="12601"/>
          </a:xfrm>
          <a:prstGeom prst="roundRect">
            <a:avLst>
              <a:gd name="adj" fmla="val 49998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736582" y="4079875"/>
            <a:ext cx="2844729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6 of 8 classes attended.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733707" y="2404864"/>
            <a:ext cx="3073323" cy="2427486"/>
          </a:xfrm>
          <a:prstGeom prst="roundRect">
            <a:avLst>
              <a:gd name="adj" fmla="val 3296"/>
            </a:avLst>
          </a:prstGeom>
          <a:solidFill>
            <a:srgbClr val="1565C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3962301" y="2698234"/>
            <a:ext cx="2616135" cy="713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5400" kern="100" spc="-162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80%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3962301" y="3454344"/>
            <a:ext cx="2616135" cy="269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Requirement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962301" y="3908425"/>
            <a:ext cx="1307968" cy="12601"/>
          </a:xfrm>
          <a:prstGeom prst="roundRect">
            <a:avLst>
              <a:gd name="adj" fmla="val 4999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3962301" y="4079875"/>
            <a:ext cx="261613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Below-required warning is triggered.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07987" y="5174996"/>
            <a:ext cx="6299042" cy="269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800" dirty="0">
                <a:solidFill>
                  <a:srgbClr val="0D47A1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Marks stay separate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07987" y="5590977"/>
            <a:ext cx="680703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0B1F3A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Internal and external marks are stored separately for each subject.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07987" y="6034286"/>
            <a:ext cx="680703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3A5278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Attendance percentage = attended classes ÷ total classes × 100.</a:t>
            </a:r>
            <a:endParaRPr lang="en-US" sz="125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017" y="0"/>
            <a:ext cx="487667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987" y="508000"/>
            <a:ext cx="423753" cy="281880"/>
          </a:xfrm>
          <a:prstGeom prst="roundRect">
            <a:avLst>
              <a:gd name="adj" fmla="val 11353"/>
            </a:avLst>
          </a:prstGeom>
          <a:solidFill>
            <a:srgbClr val="D6E6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22284" y="575628"/>
            <a:ext cx="804743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200" kern="100" spc="48" dirty="0">
                <a:solidFill>
                  <a:srgbClr val="0B1F3A"/>
                </a:solidFill>
                <a:latin typeface="DM Mono Medium" pitchFamily="34" charset="0"/>
                <a:ea typeface="DM Mono Medium" pitchFamily="34" charset="-122"/>
                <a:cs typeface="DM Mono Medium" pitchFamily="34" charset="-120"/>
              </a:rPr>
              <a:t>09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26988" y="575056"/>
            <a:ext cx="1888086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Familjen Grotesk Medium" pitchFamily="34" charset="0"/>
                <a:ea typeface="Familjen Grotesk Medium" pitchFamily="34" charset="-122"/>
                <a:cs typeface="Familjen Grotesk Medium" pitchFamily="34" charset="-120"/>
              </a:rPr>
              <a:t>Profile and account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7987" y="920879"/>
            <a:ext cx="6299042" cy="13165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200" kern="100" spc="-64" dirty="0">
                <a:solidFill>
                  <a:srgbClr val="0D47A1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The profile module keeps student details under control</a:t>
            </a:r>
            <a:endParaRPr lang="en-US" sz="3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87" y="2404864"/>
            <a:ext cx="380990" cy="381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79473" y="2414389"/>
            <a:ext cx="5727557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0B1F3A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View and edit name, email, course, and current semester.</a:t>
            </a:r>
            <a:endParaRPr lang="en-US" sz="15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87" y="2823964"/>
            <a:ext cx="380990" cy="3810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79473" y="2833489"/>
            <a:ext cx="5727557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0B1F3A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Save updated profile information to the local database.</a:t>
            </a:r>
            <a:endParaRPr lang="en-US" sz="15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987" y="3243064"/>
            <a:ext cx="380990" cy="3810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79473" y="3252589"/>
            <a:ext cx="5727557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0B1F3A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Change the account password or log out without deleting academic records.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507987" y="3954264"/>
            <a:ext cx="6299042" cy="996553"/>
          </a:xfrm>
          <a:prstGeom prst="roundRect">
            <a:avLst>
              <a:gd name="adj" fmla="val 8028"/>
            </a:avLst>
          </a:prstGeom>
          <a:solidFill>
            <a:srgbClr val="1565C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8"/>
          <p:cNvSpPr/>
          <p:nvPr/>
        </p:nvSpPr>
        <p:spPr>
          <a:xfrm>
            <a:off x="6406890" y="4357291"/>
            <a:ext cx="40013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→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736582" y="4188960"/>
            <a:ext cx="5479814" cy="5393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Academic records stay safe while account details stay current.</a:t>
            </a:r>
            <a:endParaRPr lang="en-US" sz="1800" dirty="0"/>
          </a:p>
        </p:txBody>
      </p:sp>
      <p:sp>
        <p:nvSpPr>
          <p:cNvPr id="15" name="Shape 10"/>
          <p:cNvSpPr/>
          <p:nvPr/>
        </p:nvSpPr>
        <p:spPr>
          <a:xfrm>
            <a:off x="507987" y="5128617"/>
            <a:ext cx="3073323" cy="1403152"/>
          </a:xfrm>
          <a:prstGeom prst="roundRect">
            <a:avLst>
              <a:gd name="adj" fmla="val 5702"/>
            </a:avLst>
          </a:prstGeom>
          <a:solidFill>
            <a:srgbClr val="D6E6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1"/>
          <p:cNvSpPr/>
          <p:nvPr/>
        </p:nvSpPr>
        <p:spPr>
          <a:xfrm>
            <a:off x="736582" y="5287113"/>
            <a:ext cx="2616135" cy="269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736582" y="5703094"/>
            <a:ext cx="261613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One local-first Android app for academic records.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3733707" y="5128617"/>
            <a:ext cx="3073323" cy="1403152"/>
          </a:xfrm>
          <a:prstGeom prst="roundRect">
            <a:avLst>
              <a:gd name="adj" fmla="val 5702"/>
            </a:avLst>
          </a:prstGeom>
          <a:solidFill>
            <a:srgbClr val="D6E6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4"/>
          <p:cNvSpPr/>
          <p:nvPr/>
        </p:nvSpPr>
        <p:spPr>
          <a:xfrm>
            <a:off x="3962301" y="5363313"/>
            <a:ext cx="2616135" cy="269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Future scope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3962301" y="5779294"/>
            <a:ext cx="261613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Cloud sync, deadline reminders, and richer reports.</a:t>
            </a:r>
            <a:endParaRPr lang="en-US" sz="15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017" y="0"/>
            <a:ext cx="487667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00FE40-44B1-FCD0-412A-65D6AD4082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1984" y="31120"/>
            <a:ext cx="7408505" cy="6705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3655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537</Words>
  <Application>Microsoft Office PowerPoint</Application>
  <PresentationFormat>Widescreen</PresentationFormat>
  <Paragraphs>120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Familjen Grotesk</vt:lpstr>
      <vt:lpstr>Arial</vt:lpstr>
      <vt:lpstr>DM Mono Medium</vt:lpstr>
      <vt:lpstr>Familjen Grotesk Medium</vt:lpstr>
      <vt:lpstr>Familjen Grotesk SemiBold</vt:lpstr>
      <vt:lpstr>Krona One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Bhani</dc:creator>
  <cp:lastModifiedBy>Bhani Malhotra</cp:lastModifiedBy>
  <cp:revision>3</cp:revision>
  <dcterms:created xsi:type="dcterms:W3CDTF">2026-10-14T16:14:01Z</dcterms:created>
  <dcterms:modified xsi:type="dcterms:W3CDTF">2026-10-14T17:33:29Z</dcterms:modified>
</cp:coreProperties>
</file>